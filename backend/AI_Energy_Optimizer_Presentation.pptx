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6095390" cy="9144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91440"/>
          </a:xfrm>
          <a:prstGeom prst="rect">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65760" cy="685800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10058400" cy="3200400"/>
          </a:xfrm>
          <a:prstGeom prst="rect">
            <a:avLst/>
          </a:prstGeom>
          <a:noFill/>
        </p:spPr>
        <p:txBody>
          <a:bodyPr wrap="square">
            <a:spAutoFit/>
          </a:bodyPr>
          <a:lstStyle/>
          <a:p>
            <a:pPr>
              <a:spcAft>
                <a:spcPts val="1000"/>
              </a:spcAft>
              <a:defRPr sz="4000" b="1">
                <a:solidFill>
                  <a:srgbClr val="F8FAFC"/>
                </a:solidFill>
                <a:latin typeface="Segoe UI"/>
              </a:defRPr>
            </a:pPr>
            <a:r>
              <a:t>AI-DRIVEN HOUSEHOLD ENERGY MANAGEMENT</a:t>
            </a:r>
          </a:p>
          <a:p>
            <a:pPr>
              <a:spcAft>
                <a:spcPts val="4000"/>
              </a:spcAft>
              <a:defRPr sz="2000">
                <a:solidFill>
                  <a:srgbClr val="38BDF8"/>
                </a:solidFill>
                <a:latin typeface="Segoe UI"/>
              </a:defRPr>
            </a:pPr>
            <a:r>
              <a:t>Demand Forecasting, Anomaly Detection, and Smart Load Scheduling</a:t>
            </a:r>
          </a:p>
          <a:p>
            <a:pPr>
              <a:defRPr sz="1400">
                <a:solidFill>
                  <a:srgbClr val="94A3B8"/>
                </a:solidFill>
                <a:latin typeface="Segoe UI"/>
              </a:defRPr>
            </a:pPr>
            <a:r>
              <a:t>Academic Year 2026-27 | PBL Course -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6095390" cy="9144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91440"/>
          </a:xfrm>
          <a:prstGeom prst="rect">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731520"/>
          </a:xfrm>
          <a:prstGeom prst="rect">
            <a:avLst/>
          </a:prstGeom>
          <a:noFill/>
        </p:spPr>
        <p:txBody>
          <a:bodyPr wrap="square" tIns="0" bIns="0" lIns="0" rIns="0">
            <a:spAutoFit/>
          </a:bodyPr>
          <a:lstStyle/>
          <a:p>
            <a:pPr>
              <a:defRPr sz="3600" b="1">
                <a:solidFill>
                  <a:srgbClr val="38BDF8"/>
                </a:solidFill>
                <a:latin typeface="Segoe UI"/>
              </a:defRPr>
            </a:pPr>
            <a:r>
              <a:t>1. The Problem Statement</a:t>
            </a:r>
          </a:p>
        </p:txBody>
      </p:sp>
      <p:sp>
        <p:nvSpPr>
          <p:cNvPr id="5" name="Rounded Rectangle 4"/>
          <p:cNvSpPr/>
          <p:nvPr/>
        </p:nvSpPr>
        <p:spPr>
          <a:xfrm>
            <a:off x="731520" y="1645920"/>
            <a:ext cx="4114800" cy="411480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65760"/>
          <a:lstStyle/>
          <a:p>
            <a:pPr algn="ctr">
              <a:spcAft>
                <a:spcPts val="2000"/>
              </a:spcAft>
              <a:defRPr sz="2200" b="1">
                <a:solidFill>
                  <a:srgbClr val="38BDF8"/>
                </a:solidFill>
                <a:latin typeface="Segoe UI"/>
              </a:defRPr>
            </a:pPr>
            <a:r>
              <a:t>Global Residential Inefficiency</a:t>
            </a:r>
          </a:p>
          <a:p>
            <a:pPr>
              <a:defRPr sz="1500">
                <a:solidFill>
                  <a:srgbClr val="F8FAFC"/>
                </a:solidFill>
                <a:latin typeface="Segoe UI"/>
              </a:defRPr>
            </a:pPr>
            <a:r>
              <a:t>Residential energy consumption accounts for a massive, growing share of worldwide electricity demand.</a:t>
            </a:r>
            <a:br/>
            <a:br/>
            <a:r>
              <a:t>Yet household usage remains highly inefficient, carbon-intensive, and volatile due to a structural lack of real-time insights, local forecasting, and home automation tools.</a:t>
            </a:r>
          </a:p>
        </p:txBody>
      </p:sp>
      <p:sp>
        <p:nvSpPr>
          <p:cNvPr id="6" name="TextBox 5"/>
          <p:cNvSpPr txBox="1"/>
          <p:nvPr/>
        </p:nvSpPr>
        <p:spPr>
          <a:xfrm>
            <a:off x="5303520" y="1645920"/>
            <a:ext cx="6217920" cy="4114800"/>
          </a:xfrm>
          <a:prstGeom prst="rect">
            <a:avLst/>
          </a:prstGeom>
          <a:noFill/>
        </p:spPr>
        <p:txBody>
          <a:bodyPr wrap="square">
            <a:spAutoFit/>
          </a:bodyPr>
          <a:lstStyle/>
          <a:p>
            <a:pPr>
              <a:spcAft>
                <a:spcPts val="200"/>
              </a:spcAft>
              <a:defRPr sz="1500" b="1">
                <a:solidFill>
                  <a:srgbClr val="38BDF8"/>
                </a:solidFill>
                <a:latin typeface="Segoe UI"/>
              </a:defRPr>
            </a:pPr>
            <a:r>
              <a:t>•  Passive Retroactive Feedback: </a:t>
            </a:r>
          </a:p>
          <a:p>
            <a:pPr>
              <a:spcAft>
                <a:spcPts val="1500"/>
              </a:spcAft>
              <a:defRPr sz="1300">
                <a:solidFill>
                  <a:srgbClr val="F8FAFC"/>
                </a:solidFill>
                <a:latin typeface="Segoe UI"/>
              </a:defRPr>
            </a:pPr>
            <a:r>
              <a:t>Traditional utilities provide consumption feedback only retroactively via monthly bills. Consumers cannot see current spikes or actively correct bad habits in real time.</a:t>
            </a:r>
          </a:p>
          <a:p>
            <a:pPr>
              <a:spcAft>
                <a:spcPts val="200"/>
              </a:spcAft>
              <a:defRPr sz="1500" b="1">
                <a:solidFill>
                  <a:srgbClr val="38BDF8"/>
                </a:solidFill>
                <a:latin typeface="Segoe UI"/>
              </a:defRPr>
            </a:pPr>
            <a:r>
              <a:t>•  Grid Carbon Footprint Volatility: </a:t>
            </a:r>
          </a:p>
          <a:p>
            <a:pPr>
              <a:spcAft>
                <a:spcPts val="1500"/>
              </a:spcAft>
              <a:defRPr sz="1300">
                <a:solidFill>
                  <a:srgbClr val="F8FAFC"/>
                </a:solidFill>
                <a:latin typeface="Segoe UI"/>
              </a:defRPr>
            </a:pPr>
            <a:r>
              <a:t>Peak electricity demands (typically 18:00 - 22:00) force power grids to fire up high-emission coal 'peaker' plants, multiplying the carbon intensity of home electricity.</a:t>
            </a:r>
          </a:p>
          <a:p>
            <a:pPr>
              <a:spcAft>
                <a:spcPts val="200"/>
              </a:spcAft>
              <a:defRPr sz="1500" b="1">
                <a:solidFill>
                  <a:srgbClr val="38BDF8"/>
                </a:solidFill>
                <a:latin typeface="Segoe UI"/>
              </a:defRPr>
            </a:pPr>
            <a:r>
              <a:t>•  Undetected Appliance Failures: </a:t>
            </a:r>
          </a:p>
          <a:p>
            <a:pPr>
              <a:spcAft>
                <a:spcPts val="1500"/>
              </a:spcAft>
              <a:defRPr sz="1300">
                <a:solidFill>
                  <a:srgbClr val="F8FAFC"/>
                </a:solidFill>
                <a:latin typeface="Segoe UI"/>
              </a:defRPr>
            </a:pPr>
            <a:r>
              <a:t>Without localized diagnostics, electrical leaks, faulty wiring, or failing heating/cooling compressors go unnoticed, inflating bills and creating safety hazards.</a:t>
            </a:r>
          </a:p>
          <a:p>
            <a:pPr>
              <a:spcAft>
                <a:spcPts val="200"/>
              </a:spcAft>
              <a:defRPr sz="1500" b="1">
                <a:solidFill>
                  <a:srgbClr val="38BDF8"/>
                </a:solidFill>
                <a:latin typeface="Segoe UI"/>
              </a:defRPr>
            </a:pPr>
            <a:r>
              <a:t>•  High Peak-Tariff Penalties: </a:t>
            </a:r>
          </a:p>
          <a:p>
            <a:pPr>
              <a:spcAft>
                <a:spcPts val="1500"/>
              </a:spcAft>
              <a:defRPr sz="1300">
                <a:solidFill>
                  <a:srgbClr val="F8FAFC"/>
                </a:solidFill>
                <a:latin typeface="Segoe UI"/>
              </a:defRPr>
            </a:pPr>
            <a:r>
              <a:t>Time-of-Use tariffs penalize peak-hour usage. Without intelligent control, running heavy loads in peak blocks results in high costs for consumers.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6095390" cy="9144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91440"/>
          </a:xfrm>
          <a:prstGeom prst="rect">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731520"/>
          </a:xfrm>
          <a:prstGeom prst="rect">
            <a:avLst/>
          </a:prstGeom>
          <a:noFill/>
        </p:spPr>
        <p:txBody>
          <a:bodyPr wrap="square" tIns="0" bIns="0" lIns="0" rIns="0">
            <a:spAutoFit/>
          </a:bodyPr>
          <a:lstStyle/>
          <a:p>
            <a:pPr>
              <a:defRPr sz="3600" b="1">
                <a:solidFill>
                  <a:srgbClr val="38BDF8"/>
                </a:solidFill>
                <a:latin typeface="Segoe UI"/>
              </a:defRPr>
            </a:pPr>
            <a:r>
              <a:t>2. Drawbacks of Current Systems &amp; How We Solve It</a:t>
            </a:r>
          </a:p>
        </p:txBody>
      </p:sp>
      <p:sp>
        <p:nvSpPr>
          <p:cNvPr id="5" name="Rounded Rectangle 4"/>
          <p:cNvSpPr/>
          <p:nvPr/>
        </p:nvSpPr>
        <p:spPr>
          <a:xfrm>
            <a:off x="731520" y="1645920"/>
            <a:ext cx="5029200" cy="4297680"/>
          </a:xfrm>
          <a:prstGeom prst="roundRect">
            <a:avLst/>
          </a:prstGeom>
          <a:solidFill>
            <a:srgbClr val="1E293B"/>
          </a:solidFill>
          <a:ln>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500"/>
              </a:spcAft>
              <a:defRPr sz="1800" b="1">
                <a:solidFill>
                  <a:srgbClr val="F87171"/>
                </a:solidFill>
                <a:latin typeface="Segoe UI"/>
              </a:defRPr>
            </a:pPr>
            <a:r>
              <a:t>DRAWBACKS OF CURRENT SYSTEMS</a:t>
            </a:r>
          </a:p>
          <a:p>
            <a:pPr>
              <a:spcAft>
                <a:spcPts val="1200"/>
              </a:spcAft>
              <a:defRPr sz="1300">
                <a:solidFill>
                  <a:srgbClr val="F8FAFC"/>
                </a:solidFill>
                <a:latin typeface="Segoe UI"/>
              </a:defRPr>
            </a:pPr>
            <a:r>
              <a:t>✗  Uncontrolled Peak Tariff Incurrences: Consumers run energy-hungry appliances like washing machines and EV chargers during peak hours, paying maximum rates (e.g. ₹10.50/kWh).</a:t>
            </a:r>
          </a:p>
          <a:p>
            <a:pPr>
              <a:spcAft>
                <a:spcPts val="1200"/>
              </a:spcAft>
              <a:defRPr sz="1300">
                <a:solidFill>
                  <a:srgbClr val="F8FAFC"/>
                </a:solidFill>
                <a:latin typeface="Segoe UI"/>
              </a:defRPr>
            </a:pPr>
            <a:r>
              <a:t>✗  Environmental Costs: Heavy peak draws occur when the grid relies on dirty, coal-based generation (0.943 kg CO2/kWh in India).</a:t>
            </a:r>
          </a:p>
          <a:p>
            <a:pPr>
              <a:spcAft>
                <a:spcPts val="1200"/>
              </a:spcAft>
              <a:defRPr sz="1300">
                <a:solidFill>
                  <a:srgbClr val="F8FAFC"/>
                </a:solidFill>
                <a:latin typeface="Segoe UI"/>
              </a:defRPr>
            </a:pPr>
            <a:r>
              <a:t>✗  Waste &amp; Fault Vulnerabilities: System spikes and malfunction leakages remain completely invisible, continuing for months without alerts.</a:t>
            </a:r>
          </a:p>
        </p:txBody>
      </p:sp>
      <p:sp>
        <p:nvSpPr>
          <p:cNvPr id="6" name="Rounded Rectangle 5"/>
          <p:cNvSpPr/>
          <p:nvPr/>
        </p:nvSpPr>
        <p:spPr>
          <a:xfrm>
            <a:off x="6400800" y="1645920"/>
            <a:ext cx="5029200" cy="4297680"/>
          </a:xfrm>
          <a:prstGeom prst="roundRect">
            <a:avLst/>
          </a:prstGeom>
          <a:solidFill>
            <a:srgbClr val="1E293B"/>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500"/>
              </a:spcAft>
              <a:defRPr sz="1800" b="1">
                <a:solidFill>
                  <a:srgbClr val="34D399"/>
                </a:solidFill>
                <a:latin typeface="Segoe UI"/>
              </a:defRPr>
            </a:pPr>
            <a:r>
              <a:t>HOW OUR AI ENERGY OPTIMIZER SOLVES IT</a:t>
            </a:r>
          </a:p>
          <a:p>
            <a:pPr>
              <a:spcAft>
                <a:spcPts val="1000"/>
              </a:spcAft>
              <a:defRPr sz="1300">
                <a:solidFill>
                  <a:srgbClr val="F8FAFC"/>
                </a:solidFill>
                <a:latin typeface="Segoe UI"/>
              </a:defRPr>
            </a:pPr>
            <a:r>
              <a:t>✓  Predictive Load Forecasting: Random Forest Regression forecasts household loads 24h in advance to plan intelligent shifting.</a:t>
            </a:r>
          </a:p>
          <a:p>
            <a:pPr>
              <a:spcAft>
                <a:spcPts val="1000"/>
              </a:spcAft>
              <a:defRPr sz="1300">
                <a:solidFill>
                  <a:srgbClr val="F8FAFC"/>
                </a:solidFill>
                <a:latin typeface="Segoe UI"/>
              </a:defRPr>
            </a:pPr>
            <a:r>
              <a:t>✓  Greedy Smart Scheduling: Heuristic scheduling shifts high-power, flexible loads (EV, Washer, Heater) into cheap off-peak hours (₹5.00/kWh).</a:t>
            </a:r>
          </a:p>
          <a:p>
            <a:pPr>
              <a:spcAft>
                <a:spcPts val="1000"/>
              </a:spcAft>
              <a:defRPr sz="1300">
                <a:solidFill>
                  <a:srgbClr val="F8FAFC"/>
                </a:solidFill>
                <a:latin typeface="Segoe UI"/>
              </a:defRPr>
            </a:pPr>
            <a:r>
              <a:t>✓  Unsupervised Anomaly Audits: Contamination-aware Isolation Forest detects unexpected power draws instantly, flagging hardware faults.</a:t>
            </a:r>
          </a:p>
          <a:p>
            <a:pPr>
              <a:spcAft>
                <a:spcPts val="1000"/>
              </a:spcAft>
              <a:defRPr sz="1300">
                <a:solidFill>
                  <a:srgbClr val="F8FAFC"/>
                </a:solidFill>
                <a:latin typeface="Segoe UI"/>
              </a:defRPr>
            </a:pPr>
            <a:r>
              <a:t>✓  Interactive LLM Assistant: A glassmorphism conversational interface answers diagnostics questions and parses analytics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6095390" cy="9144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91440"/>
          </a:xfrm>
          <a:prstGeom prst="rect">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731520"/>
          </a:xfrm>
          <a:prstGeom prst="rect">
            <a:avLst/>
          </a:prstGeom>
          <a:noFill/>
        </p:spPr>
        <p:txBody>
          <a:bodyPr wrap="square" tIns="0" bIns="0" lIns="0" rIns="0">
            <a:spAutoFit/>
          </a:bodyPr>
          <a:lstStyle/>
          <a:p>
            <a:pPr>
              <a:defRPr sz="3600" b="1">
                <a:solidFill>
                  <a:srgbClr val="38BDF8"/>
                </a:solidFill>
                <a:latin typeface="Segoe UI"/>
              </a:defRPr>
            </a:pPr>
            <a:r>
              <a:t>3. Database &amp; Dataset Split details</a:t>
            </a:r>
          </a:p>
        </p:txBody>
      </p:sp>
      <p:sp>
        <p:nvSpPr>
          <p:cNvPr id="5" name="TextBox 4"/>
          <p:cNvSpPr txBox="1"/>
          <p:nvPr/>
        </p:nvSpPr>
        <p:spPr>
          <a:xfrm>
            <a:off x="731520" y="1645920"/>
            <a:ext cx="5486400" cy="4114800"/>
          </a:xfrm>
          <a:prstGeom prst="rect">
            <a:avLst/>
          </a:prstGeom>
          <a:noFill/>
        </p:spPr>
        <p:txBody>
          <a:bodyPr wrap="square">
            <a:spAutoFit/>
          </a:bodyPr>
          <a:lstStyle/>
          <a:p>
            <a:pPr>
              <a:spcAft>
                <a:spcPts val="200"/>
              </a:spcAft>
              <a:defRPr sz="1500" b="1">
                <a:solidFill>
                  <a:srgbClr val="38BDF8"/>
                </a:solidFill>
                <a:latin typeface="Segoe UI"/>
              </a:defRPr>
            </a:pPr>
            <a:r>
              <a:t>•  Source Database: </a:t>
            </a:r>
          </a:p>
          <a:p>
            <a:pPr>
              <a:spcAft>
                <a:spcPts val="1500"/>
              </a:spcAft>
              <a:defRPr sz="1300">
                <a:solidFill>
                  <a:srgbClr val="F8FAFC"/>
                </a:solidFill>
                <a:latin typeface="Segoe UI"/>
              </a:defRPr>
            </a:pPr>
            <a:r>
              <a:t>UCI Individual Household Electric Power Consumption dataset combined with localized weather indexes (temperature, humidity, wind) and tariff matrices.</a:t>
            </a:r>
          </a:p>
          <a:p>
            <a:pPr>
              <a:spcAft>
                <a:spcPts val="200"/>
              </a:spcAft>
              <a:defRPr sz="1500" b="1">
                <a:solidFill>
                  <a:srgbClr val="38BDF8"/>
                </a:solidFill>
                <a:latin typeface="Segoe UI"/>
              </a:defRPr>
            </a:pPr>
            <a:r>
              <a:t>•  Data Aggregation &amp; Scale: </a:t>
            </a:r>
          </a:p>
          <a:p>
            <a:pPr>
              <a:spcAft>
                <a:spcPts val="1500"/>
              </a:spcAft>
              <a:defRPr sz="1300">
                <a:solidFill>
                  <a:srgbClr val="F8FAFC"/>
                </a:solidFill>
                <a:latin typeface="Segoe UI"/>
              </a:defRPr>
            </a:pPr>
            <a:r>
              <a:t>50,000 hourly energy samples from the UCI database are leveraged for ML models. 90 days (2,160 hourly records) are utilized for load scheduling simulations.</a:t>
            </a:r>
          </a:p>
          <a:p>
            <a:pPr>
              <a:spcAft>
                <a:spcPts val="200"/>
              </a:spcAft>
              <a:defRPr sz="1500" b="1">
                <a:solidFill>
                  <a:srgbClr val="38BDF8"/>
                </a:solidFill>
                <a:latin typeface="Segoe UI"/>
              </a:defRPr>
            </a:pPr>
            <a:r>
              <a:t>•  Primary Features Utilized: </a:t>
            </a:r>
          </a:p>
          <a:p>
            <a:pPr>
              <a:spcAft>
                <a:spcPts val="1500"/>
              </a:spcAft>
              <a:defRPr sz="1300">
                <a:solidFill>
                  <a:srgbClr val="F8FAFC"/>
                </a:solidFill>
                <a:latin typeface="Segoe UI"/>
              </a:defRPr>
            </a:pPr>
            <a:r>
              <a:t>hour, day_of_week, is_weekend, peak_hour_flag, voltage, global_intensity, sub_metering_1 (Kitchen), sub_metering_2 (Laundry), sub_metering_3 (Climate Control).</a:t>
            </a:r>
          </a:p>
          <a:p>
            <a:pPr>
              <a:spcAft>
                <a:spcPts val="200"/>
              </a:spcAft>
              <a:defRPr sz="1500" b="1">
                <a:solidFill>
                  <a:srgbClr val="38BDF8"/>
                </a:solidFill>
                <a:latin typeface="Segoe UI"/>
              </a:defRPr>
            </a:pPr>
            <a:r>
              <a:t>•  Model Partition &amp; Splits: </a:t>
            </a:r>
          </a:p>
          <a:p>
            <a:pPr>
              <a:spcAft>
                <a:spcPts val="1500"/>
              </a:spcAft>
              <a:defRPr sz="1300">
                <a:solidFill>
                  <a:srgbClr val="F8FAFC"/>
                </a:solidFill>
                <a:latin typeface="Segoe UI"/>
              </a:defRPr>
            </a:pPr>
            <a:r>
              <a:t>The dataset is split into an 80% Training partition and a 20% Testing partition using stratified/random seed splitting (random_state = 42).</a:t>
            </a:r>
          </a:p>
        </p:txBody>
      </p:sp>
      <p:sp>
        <p:nvSpPr>
          <p:cNvPr id="6" name="Rounded Rectangle 5"/>
          <p:cNvSpPr/>
          <p:nvPr/>
        </p:nvSpPr>
        <p:spPr>
          <a:xfrm>
            <a:off x="6858000" y="1645920"/>
            <a:ext cx="4572000" cy="411480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365760" lIns="274320" rIns="274320"/>
          <a:lstStyle/>
          <a:p>
            <a:pPr algn="ctr">
              <a:spcAft>
                <a:spcPts val="2000"/>
              </a:spcAft>
              <a:defRPr sz="2000" b="1">
                <a:solidFill>
                  <a:srgbClr val="38BDF8"/>
                </a:solidFill>
                <a:latin typeface="Segoe UI"/>
              </a:defRPr>
            </a:pPr>
            <a:r>
              <a:t>Dataset Splits &amp; Pipeline</a:t>
            </a:r>
          </a:p>
          <a:p>
            <a:pPr>
              <a:spcAft>
                <a:spcPts val="1200"/>
              </a:spcAft>
              <a:defRPr sz="1400">
                <a:solidFill>
                  <a:srgbClr val="F8FAFC"/>
                </a:solidFill>
                <a:latin typeface="Segoe UI"/>
              </a:defRPr>
            </a:pPr>
            <a:r>
              <a:t>1. Raw Data Intake (UCI Repository)</a:t>
            </a:r>
          </a:p>
          <a:p>
            <a:pPr>
              <a:spcAft>
                <a:spcPts val="1200"/>
              </a:spcAft>
              <a:defRPr sz="1400">
                <a:solidFill>
                  <a:srgbClr val="F8FAFC"/>
                </a:solidFill>
                <a:latin typeface="Segoe UI"/>
              </a:defRPr>
            </a:pPr>
            <a:r>
              <a:t>2. Missing values forward-filled (ffill/bfill)</a:t>
            </a:r>
          </a:p>
          <a:p>
            <a:pPr>
              <a:spcAft>
                <a:spcPts val="1200"/>
              </a:spcAft>
              <a:defRPr sz="1400">
                <a:solidFill>
                  <a:srgbClr val="F8FAFC"/>
                </a:solidFill>
                <a:latin typeface="Segoe UI"/>
              </a:defRPr>
            </a:pPr>
            <a:r>
              <a:t>3. Calculated features (temporal indices &amp; flags)</a:t>
            </a:r>
          </a:p>
          <a:p>
            <a:pPr>
              <a:spcAft>
                <a:spcPts val="1200"/>
              </a:spcAft>
              <a:defRPr sz="1400">
                <a:solidFill>
                  <a:srgbClr val="F8FAFC"/>
                </a:solidFill>
                <a:latin typeface="Segoe UI"/>
              </a:defRPr>
            </a:pPr>
            <a:r>
              <a:t>4. Calculated cost &amp; IQR outlier flags</a:t>
            </a:r>
          </a:p>
          <a:p>
            <a:pPr>
              <a:spcAft>
                <a:spcPts val="1200"/>
              </a:spcAft>
              <a:defRPr sz="1400">
                <a:solidFill>
                  <a:srgbClr val="F8FAFC"/>
                </a:solidFill>
                <a:latin typeface="Segoe UI"/>
              </a:defRPr>
            </a:pPr>
            <a:r>
              <a:t>5. Split: Training Set (80%) -&gt; 40,000 samples</a:t>
            </a:r>
          </a:p>
          <a:p>
            <a:pPr>
              <a:spcAft>
                <a:spcPts val="1200"/>
              </a:spcAft>
              <a:defRPr sz="1400">
                <a:solidFill>
                  <a:srgbClr val="F8FAFC"/>
                </a:solidFill>
                <a:latin typeface="Segoe UI"/>
              </a:defRPr>
            </a:pPr>
            <a:r>
              <a:t>6. Split: Testing Set (20%) -&gt; 10,000 samples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6095390" cy="9144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91440"/>
          </a:xfrm>
          <a:prstGeom prst="rect">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731520"/>
          </a:xfrm>
          <a:prstGeom prst="rect">
            <a:avLst/>
          </a:prstGeom>
          <a:noFill/>
        </p:spPr>
        <p:txBody>
          <a:bodyPr wrap="square" tIns="0" bIns="0" lIns="0" rIns="0">
            <a:spAutoFit/>
          </a:bodyPr>
          <a:lstStyle/>
          <a:p>
            <a:pPr>
              <a:defRPr sz="3600" b="1">
                <a:solidFill>
                  <a:srgbClr val="38BDF8"/>
                </a:solidFill>
                <a:latin typeface="Segoe UI"/>
              </a:defRPr>
            </a:pPr>
            <a:r>
              <a:t>4. Machine Learning Algorithms Employed</a:t>
            </a:r>
          </a:p>
        </p:txBody>
      </p:sp>
      <p:sp>
        <p:nvSpPr>
          <p:cNvPr id="5" name="Rounded Rectangle 4"/>
          <p:cNvSpPr/>
          <p:nvPr/>
        </p:nvSpPr>
        <p:spPr>
          <a:xfrm>
            <a:off x="731520" y="1645920"/>
            <a:ext cx="3291840" cy="4389120"/>
          </a:xfrm>
          <a:prstGeom prst="roundRect">
            <a:avLst/>
          </a:prstGeom>
          <a:solidFill>
            <a:srgbClr val="1E293B"/>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000"/>
              </a:spcAft>
              <a:defRPr sz="1700" b="1">
                <a:solidFill>
                  <a:srgbClr val="38BDF8"/>
                </a:solidFill>
                <a:latin typeface="Segoe UI"/>
              </a:defRPr>
            </a:pPr>
            <a:r>
              <a:t>LOAD FORECASTING</a:t>
            </a:r>
          </a:p>
          <a:p>
            <a:pPr>
              <a:spcAft>
                <a:spcPts val="1500"/>
              </a:spcAft>
              <a:defRPr sz="1300">
                <a:solidFill>
                  <a:srgbClr val="94A3B8"/>
                </a:solidFill>
                <a:latin typeface="Segoe UI"/>
              </a:defRPr>
            </a:pPr>
            <a:r>
              <a:t>Regression model tasked with predicting next 24-hour global power draw for smart scheduling optimization.</a:t>
            </a:r>
          </a:p>
          <a:p>
            <a:pPr>
              <a:spcAft>
                <a:spcPts val="1000"/>
              </a:spcAft>
              <a:defRPr sz="1200">
                <a:solidFill>
                  <a:srgbClr val="F8FAFC"/>
                </a:solidFill>
                <a:latin typeface="Segoe UI"/>
              </a:defRPr>
            </a:pPr>
            <a:r>
              <a:t>•  Random Forest Regressor (Selected): Captures non-linear dependencies between voltage, intensity, day variables, and weather parameters.</a:t>
            </a:r>
          </a:p>
          <a:p>
            <a:pPr>
              <a:spcAft>
                <a:spcPts val="1000"/>
              </a:spcAft>
              <a:defRPr sz="1200">
                <a:solidFill>
                  <a:srgbClr val="F8FAFC"/>
                </a:solidFill>
                <a:latin typeface="Segoe UI"/>
              </a:defRPr>
            </a:pPr>
            <a:r>
              <a:t>•  Gradient Boosting Regressor: Iterative ensemble trees optimized on mean-squared-error gradient reductions.</a:t>
            </a:r>
          </a:p>
        </p:txBody>
      </p:sp>
      <p:sp>
        <p:nvSpPr>
          <p:cNvPr id="6" name="Rounded Rectangle 5"/>
          <p:cNvSpPr/>
          <p:nvPr/>
        </p:nvSpPr>
        <p:spPr>
          <a:xfrm>
            <a:off x="4389120" y="1645920"/>
            <a:ext cx="3291840" cy="4389120"/>
          </a:xfrm>
          <a:prstGeom prst="roundRect">
            <a:avLst/>
          </a:prstGeom>
          <a:solidFill>
            <a:srgbClr val="1E293B"/>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000"/>
              </a:spcAft>
              <a:defRPr sz="1700" b="1">
                <a:solidFill>
                  <a:srgbClr val="38BDF8"/>
                </a:solidFill>
                <a:latin typeface="Segoe UI"/>
              </a:defRPr>
            </a:pPr>
            <a:r>
              <a:t>USAGE CLASSIFICATION</a:t>
            </a:r>
          </a:p>
          <a:p>
            <a:pPr>
              <a:spcAft>
                <a:spcPts val="1500"/>
              </a:spcAft>
              <a:defRPr sz="1300">
                <a:solidFill>
                  <a:srgbClr val="94A3B8"/>
                </a:solidFill>
                <a:latin typeface="Segoe UI"/>
              </a:defRPr>
            </a:pPr>
            <a:r>
              <a:t>Classification engine dividing hourly loads into Low, Medium, and High bands for energy use classification diagnostics.</a:t>
            </a:r>
          </a:p>
          <a:p>
            <a:pPr>
              <a:spcAft>
                <a:spcPts val="1000"/>
              </a:spcAft>
              <a:defRPr sz="1200">
                <a:solidFill>
                  <a:srgbClr val="F8FAFC"/>
                </a:solidFill>
                <a:latin typeface="Segoe UI"/>
              </a:defRPr>
            </a:pPr>
            <a:r>
              <a:t>•  Random Forest Classifier (Selected): Employs decision thresholds on hourly quantiles for energy level profiling.</a:t>
            </a:r>
          </a:p>
          <a:p>
            <a:pPr>
              <a:spcAft>
                <a:spcPts val="1000"/>
              </a:spcAft>
              <a:defRPr sz="1200">
                <a:solidFill>
                  <a:srgbClr val="F8FAFC"/>
                </a:solidFill>
                <a:latin typeface="Segoe UI"/>
              </a:defRPr>
            </a:pPr>
            <a:r>
              <a:t>•  Gradient Boosting Classifier: Additive classifier that models probability maps across power brackets.</a:t>
            </a:r>
          </a:p>
        </p:txBody>
      </p:sp>
      <p:sp>
        <p:nvSpPr>
          <p:cNvPr id="7" name="Rounded Rectangle 6"/>
          <p:cNvSpPr/>
          <p:nvPr/>
        </p:nvSpPr>
        <p:spPr>
          <a:xfrm>
            <a:off x="8046720" y="1645920"/>
            <a:ext cx="3291840" cy="4389120"/>
          </a:xfrm>
          <a:prstGeom prst="roundRect">
            <a:avLst/>
          </a:prstGeom>
          <a:solidFill>
            <a:srgbClr val="1E293B"/>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spcAft>
                <a:spcPts val="1000"/>
              </a:spcAft>
              <a:defRPr sz="1700" b="1">
                <a:solidFill>
                  <a:srgbClr val="38BDF8"/>
                </a:solidFill>
                <a:latin typeface="Segoe UI"/>
              </a:defRPr>
            </a:pPr>
            <a:r>
              <a:t>ANOMALY DETECTION</a:t>
            </a:r>
          </a:p>
          <a:p>
            <a:pPr>
              <a:spcAft>
                <a:spcPts val="1500"/>
              </a:spcAft>
              <a:defRPr sz="1300">
                <a:solidFill>
                  <a:srgbClr val="94A3B8"/>
                </a:solidFill>
                <a:latin typeface="Segoe UI"/>
              </a:defRPr>
            </a:pPr>
            <a:r>
              <a:t>Unsupervised diagnostic system running continuously to scan for outlier power spikes (appliance leakage/faults).</a:t>
            </a:r>
          </a:p>
          <a:p>
            <a:pPr>
              <a:spcAft>
                <a:spcPts val="1000"/>
              </a:spcAft>
              <a:defRPr sz="1200">
                <a:solidFill>
                  <a:srgbClr val="F8FAFC"/>
                </a:solidFill>
                <a:latin typeface="Segoe UI"/>
              </a:defRPr>
            </a:pPr>
            <a:r>
              <a:t>•  Isolation Forest (Selected): Isolate anomalies explicitly by selecting random features and split values.</a:t>
            </a:r>
          </a:p>
          <a:p>
            <a:pPr>
              <a:spcAft>
                <a:spcPts val="1000"/>
              </a:spcAft>
              <a:defRPr sz="1200">
                <a:solidFill>
                  <a:srgbClr val="F8FAFC"/>
                </a:solidFill>
                <a:latin typeface="Segoe UI"/>
              </a:defRPr>
            </a:pPr>
            <a:r>
              <a:t>•  One-Class SVM: Projects dataset elements to high-dimensional space to define boundary margins.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6095390" cy="9144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91440"/>
          </a:xfrm>
          <a:prstGeom prst="rect">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731520"/>
          </a:xfrm>
          <a:prstGeom prst="rect">
            <a:avLst/>
          </a:prstGeom>
          <a:noFill/>
        </p:spPr>
        <p:txBody>
          <a:bodyPr wrap="square" tIns="0" bIns="0" lIns="0" rIns="0">
            <a:spAutoFit/>
          </a:bodyPr>
          <a:lstStyle/>
          <a:p>
            <a:pPr>
              <a:defRPr sz="3600" b="1">
                <a:solidFill>
                  <a:srgbClr val="38BDF8"/>
                </a:solidFill>
                <a:latin typeface="Segoe UI"/>
              </a:defRPr>
            </a:pPr>
            <a:r>
              <a:t>5. Model Performance Metrics</a:t>
            </a:r>
          </a:p>
        </p:txBody>
      </p:sp>
      <p:graphicFrame>
        <p:nvGraphicFramePr>
          <p:cNvPr id="5" name="Table 4"/>
          <p:cNvGraphicFramePr>
            <a:graphicFrameLocks noGrp="1"/>
          </p:cNvGraphicFramePr>
          <p:nvPr/>
        </p:nvGraphicFramePr>
        <p:xfrm>
          <a:off x="731520" y="1645920"/>
          <a:ext cx="10698480" cy="4114800"/>
        </p:xfrm>
        <a:graphic>
          <a:graphicData uri="http://schemas.openxmlformats.org/drawingml/2006/table">
            <a:tbl>
              <a:tblPr firstRow="1" bandRow="1">
                <a:tableStyleId>{5C22544A-7EE6-4342-B048-85BDC9FD1C3A}</a:tableStyleId>
              </a:tblPr>
              <a:tblGrid>
                <a:gridCol w="2011680"/>
                <a:gridCol w="2926080"/>
                <a:gridCol w="2011680"/>
                <a:gridCol w="1828800"/>
                <a:gridCol w="1920240"/>
              </a:tblGrid>
              <a:tr h="587828">
                <a:tc>
                  <a:txBody>
                    <a:bodyPr/>
                    <a:lstStyle/>
                    <a:p>
                      <a:pPr algn="ctr">
                        <a:defRPr sz="1400" b="1">
                          <a:solidFill>
                            <a:srgbClr val="38BDF8"/>
                          </a:solidFill>
                          <a:latin typeface="Segoe UI"/>
                        </a:defRPr>
                      </a:pPr>
                      <a:r>
                        <a:t>Model Task</a:t>
                      </a:r>
                    </a:p>
                  </a:txBody>
                  <a:tcPr>
                    <a:solidFill>
                      <a:srgbClr val="1E293B"/>
                    </a:solidFill>
                  </a:tcPr>
                </a:tc>
                <a:tc>
                  <a:txBody>
                    <a:bodyPr/>
                    <a:lstStyle/>
                    <a:p>
                      <a:pPr algn="ctr">
                        <a:defRPr sz="1400" b="1">
                          <a:solidFill>
                            <a:srgbClr val="38BDF8"/>
                          </a:solidFill>
                          <a:latin typeface="Segoe UI"/>
                        </a:defRPr>
                      </a:pPr>
                      <a:r>
                        <a:t>Algorithm</a:t>
                      </a:r>
                    </a:p>
                  </a:txBody>
                  <a:tcPr>
                    <a:solidFill>
                      <a:srgbClr val="1E293B"/>
                    </a:solidFill>
                  </a:tcPr>
                </a:tc>
                <a:tc>
                  <a:txBody>
                    <a:bodyPr/>
                    <a:lstStyle/>
                    <a:p>
                      <a:pPr algn="ctr">
                        <a:defRPr sz="1400" b="1">
                          <a:solidFill>
                            <a:srgbClr val="38BDF8"/>
                          </a:solidFill>
                          <a:latin typeface="Segoe UI"/>
                        </a:defRPr>
                      </a:pPr>
                      <a:r>
                        <a:t>Metric Evaluated</a:t>
                      </a:r>
                    </a:p>
                  </a:txBody>
                  <a:tcPr>
                    <a:solidFill>
                      <a:srgbClr val="1E293B"/>
                    </a:solidFill>
                  </a:tcPr>
                </a:tc>
                <a:tc>
                  <a:txBody>
                    <a:bodyPr/>
                    <a:lstStyle/>
                    <a:p>
                      <a:pPr algn="ctr">
                        <a:defRPr sz="1400" b="1">
                          <a:solidFill>
                            <a:srgbClr val="38BDF8"/>
                          </a:solidFill>
                          <a:latin typeface="Segoe UI"/>
                        </a:defRPr>
                      </a:pPr>
                      <a:r>
                        <a:t>Train Value</a:t>
                      </a:r>
                    </a:p>
                  </a:txBody>
                  <a:tcPr>
                    <a:solidFill>
                      <a:srgbClr val="1E293B"/>
                    </a:solidFill>
                  </a:tcPr>
                </a:tc>
                <a:tc>
                  <a:txBody>
                    <a:bodyPr/>
                    <a:lstStyle/>
                    <a:p>
                      <a:pPr algn="ctr">
                        <a:defRPr sz="1400" b="1">
                          <a:solidFill>
                            <a:srgbClr val="38BDF8"/>
                          </a:solidFill>
                          <a:latin typeface="Segoe UI"/>
                        </a:defRPr>
                      </a:pPr>
                      <a:r>
                        <a:t>Test Value</a:t>
                      </a:r>
                    </a:p>
                  </a:txBody>
                  <a:tcPr>
                    <a:solidFill>
                      <a:srgbClr val="1E293B"/>
                    </a:solidFill>
                  </a:tcPr>
                </a:tc>
              </a:tr>
              <a:tr h="587828">
                <a:tc>
                  <a:txBody>
                    <a:bodyPr/>
                    <a:lstStyle/>
                    <a:p>
                      <a:pPr algn="ctr">
                        <a:defRPr sz="1200" b="1">
                          <a:solidFill>
                            <a:srgbClr val="34D399"/>
                          </a:solidFill>
                          <a:latin typeface="Segoe UI"/>
                        </a:defRPr>
                      </a:pPr>
                      <a:r>
                        <a:t>Load Forecasting (Active)</a:t>
                      </a:r>
                    </a:p>
                  </a:txBody>
                  <a:tcPr>
                    <a:solidFill>
                      <a:srgbClr val="0F2043"/>
                    </a:solidFill>
                  </a:tcPr>
                </a:tc>
                <a:tc>
                  <a:txBody>
                    <a:bodyPr/>
                    <a:lstStyle/>
                    <a:p>
                      <a:pPr algn="ctr">
                        <a:defRPr sz="1200" b="1">
                          <a:solidFill>
                            <a:srgbClr val="F8FAFC"/>
                          </a:solidFill>
                          <a:latin typeface="Segoe UI"/>
                        </a:defRPr>
                      </a:pPr>
                      <a:r>
                        <a:t>Random Forest Regressor</a:t>
                      </a:r>
                    </a:p>
                  </a:txBody>
                  <a:tcPr>
                    <a:solidFill>
                      <a:srgbClr val="0F2043"/>
                    </a:solidFill>
                  </a:tcPr>
                </a:tc>
                <a:tc>
                  <a:txBody>
                    <a:bodyPr/>
                    <a:lstStyle/>
                    <a:p>
                      <a:pPr algn="ctr">
                        <a:defRPr sz="1200" b="1">
                          <a:solidFill>
                            <a:srgbClr val="F8FAFC"/>
                          </a:solidFill>
                          <a:latin typeface="Segoe UI"/>
                        </a:defRPr>
                      </a:pPr>
                      <a:r>
                        <a:t>R2 / RMSE</a:t>
                      </a:r>
                    </a:p>
                  </a:txBody>
                  <a:tcPr>
                    <a:solidFill>
                      <a:srgbClr val="0F2043"/>
                    </a:solidFill>
                  </a:tcPr>
                </a:tc>
                <a:tc>
                  <a:txBody>
                    <a:bodyPr/>
                    <a:lstStyle/>
                    <a:p>
                      <a:pPr algn="ctr">
                        <a:defRPr sz="1200" b="1">
                          <a:solidFill>
                            <a:srgbClr val="F8FAFC"/>
                          </a:solidFill>
                          <a:latin typeface="Segoe UI"/>
                        </a:defRPr>
                      </a:pPr>
                      <a:r>
                        <a:t>0.884 / 0.11 kW</a:t>
                      </a:r>
                    </a:p>
                  </a:txBody>
                  <a:tcPr>
                    <a:solidFill>
                      <a:srgbClr val="0F2043"/>
                    </a:solidFill>
                  </a:tcPr>
                </a:tc>
                <a:tc>
                  <a:txBody>
                    <a:bodyPr/>
                    <a:lstStyle/>
                    <a:p>
                      <a:pPr algn="ctr">
                        <a:defRPr sz="1200" b="1">
                          <a:solidFill>
                            <a:srgbClr val="F8FAFC"/>
                          </a:solidFill>
                          <a:latin typeface="Segoe UI"/>
                        </a:defRPr>
                      </a:pPr>
                      <a:r>
                        <a:t>0.812 / 0.14 kW</a:t>
                      </a:r>
                    </a:p>
                  </a:txBody>
                  <a:tcPr>
                    <a:solidFill>
                      <a:srgbClr val="0F2043"/>
                    </a:solidFill>
                  </a:tcPr>
                </a:tc>
              </a:tr>
              <a:tr h="587828">
                <a:tc>
                  <a:txBody>
                    <a:bodyPr/>
                    <a:lstStyle/>
                    <a:p>
                      <a:pPr algn="ctr">
                        <a:defRPr sz="1200">
                          <a:solidFill>
                            <a:srgbClr val="94A3B8"/>
                          </a:solidFill>
                          <a:latin typeface="Segoe UI"/>
                        </a:defRPr>
                      </a:pPr>
                      <a:r>
                        <a:t>Load Forecasting</a:t>
                      </a:r>
                    </a:p>
                  </a:txBody>
                  <a:tcPr>
                    <a:solidFill>
                      <a:srgbClr val="1E293B"/>
                    </a:solidFill>
                  </a:tcPr>
                </a:tc>
                <a:tc>
                  <a:txBody>
                    <a:bodyPr/>
                    <a:lstStyle/>
                    <a:p>
                      <a:pPr algn="ctr">
                        <a:defRPr sz="1200">
                          <a:solidFill>
                            <a:srgbClr val="94A3B8"/>
                          </a:solidFill>
                          <a:latin typeface="Segoe UI"/>
                        </a:defRPr>
                      </a:pPr>
                      <a:r>
                        <a:t>Gradient Boosting Regressor</a:t>
                      </a:r>
                    </a:p>
                  </a:txBody>
                  <a:tcPr>
                    <a:solidFill>
                      <a:srgbClr val="1E293B"/>
                    </a:solidFill>
                  </a:tcPr>
                </a:tc>
                <a:tc>
                  <a:txBody>
                    <a:bodyPr/>
                    <a:lstStyle/>
                    <a:p>
                      <a:pPr algn="ctr">
                        <a:defRPr sz="1200">
                          <a:solidFill>
                            <a:srgbClr val="94A3B8"/>
                          </a:solidFill>
                          <a:latin typeface="Segoe UI"/>
                        </a:defRPr>
                      </a:pPr>
                      <a:r>
                        <a:t>R2 / RMSE</a:t>
                      </a:r>
                    </a:p>
                  </a:txBody>
                  <a:tcPr>
                    <a:solidFill>
                      <a:srgbClr val="1E293B"/>
                    </a:solidFill>
                  </a:tcPr>
                </a:tc>
                <a:tc>
                  <a:txBody>
                    <a:bodyPr/>
                    <a:lstStyle/>
                    <a:p>
                      <a:pPr algn="ctr">
                        <a:defRPr sz="1200">
                          <a:solidFill>
                            <a:srgbClr val="94A3B8"/>
                          </a:solidFill>
                          <a:latin typeface="Segoe UI"/>
                        </a:defRPr>
                      </a:pPr>
                      <a:r>
                        <a:t>0.841 / 0.13 kW</a:t>
                      </a:r>
                    </a:p>
                  </a:txBody>
                  <a:tcPr>
                    <a:solidFill>
                      <a:srgbClr val="1E293B"/>
                    </a:solidFill>
                  </a:tcPr>
                </a:tc>
                <a:tc>
                  <a:txBody>
                    <a:bodyPr/>
                    <a:lstStyle/>
                    <a:p>
                      <a:pPr algn="ctr">
                        <a:defRPr sz="1200">
                          <a:solidFill>
                            <a:srgbClr val="94A3B8"/>
                          </a:solidFill>
                          <a:latin typeface="Segoe UI"/>
                        </a:defRPr>
                      </a:pPr>
                      <a:r>
                        <a:t>0.795 / 0.16 kW</a:t>
                      </a:r>
                    </a:p>
                  </a:txBody>
                  <a:tcPr>
                    <a:solidFill>
                      <a:srgbClr val="1E293B"/>
                    </a:solidFill>
                  </a:tcPr>
                </a:tc>
              </a:tr>
              <a:tr h="587828">
                <a:tc>
                  <a:txBody>
                    <a:bodyPr/>
                    <a:lstStyle/>
                    <a:p>
                      <a:pPr algn="ctr">
                        <a:defRPr sz="1200" b="1">
                          <a:solidFill>
                            <a:srgbClr val="34D399"/>
                          </a:solidFill>
                          <a:latin typeface="Segoe UI"/>
                        </a:defRPr>
                      </a:pPr>
                      <a:r>
                        <a:t>Usage Classification (Active)</a:t>
                      </a:r>
                    </a:p>
                  </a:txBody>
                  <a:tcPr>
                    <a:solidFill>
                      <a:srgbClr val="0F2043"/>
                    </a:solidFill>
                  </a:tcPr>
                </a:tc>
                <a:tc>
                  <a:txBody>
                    <a:bodyPr/>
                    <a:lstStyle/>
                    <a:p>
                      <a:pPr algn="ctr">
                        <a:defRPr sz="1200" b="1">
                          <a:solidFill>
                            <a:srgbClr val="F8FAFC"/>
                          </a:solidFill>
                          <a:latin typeface="Segoe UI"/>
                        </a:defRPr>
                      </a:pPr>
                      <a:r>
                        <a:t>Random Forest Classifier</a:t>
                      </a:r>
                    </a:p>
                  </a:txBody>
                  <a:tcPr>
                    <a:solidFill>
                      <a:srgbClr val="0F2043"/>
                    </a:solidFill>
                  </a:tcPr>
                </a:tc>
                <a:tc>
                  <a:txBody>
                    <a:bodyPr/>
                    <a:lstStyle/>
                    <a:p>
                      <a:pPr algn="ctr">
                        <a:defRPr sz="1200" b="1">
                          <a:solidFill>
                            <a:srgbClr val="F8FAFC"/>
                          </a:solidFill>
                          <a:latin typeface="Segoe UI"/>
                        </a:defRPr>
                      </a:pPr>
                      <a:r>
                        <a:t>Accuracy / F1</a:t>
                      </a:r>
                    </a:p>
                  </a:txBody>
                  <a:tcPr>
                    <a:solidFill>
                      <a:srgbClr val="0F2043"/>
                    </a:solidFill>
                  </a:tcPr>
                </a:tc>
                <a:tc>
                  <a:txBody>
                    <a:bodyPr/>
                    <a:lstStyle/>
                    <a:p>
                      <a:pPr algn="ctr">
                        <a:defRPr sz="1200" b="1">
                          <a:solidFill>
                            <a:srgbClr val="F8FAFC"/>
                          </a:solidFill>
                          <a:latin typeface="Segoe UI"/>
                        </a:defRPr>
                      </a:pPr>
                      <a:r>
                        <a:t>0.910 / 0.902</a:t>
                      </a:r>
                    </a:p>
                  </a:txBody>
                  <a:tcPr>
                    <a:solidFill>
                      <a:srgbClr val="0F2043"/>
                    </a:solidFill>
                  </a:tcPr>
                </a:tc>
                <a:tc>
                  <a:txBody>
                    <a:bodyPr/>
                    <a:lstStyle/>
                    <a:p>
                      <a:pPr algn="ctr">
                        <a:defRPr sz="1200" b="1">
                          <a:solidFill>
                            <a:srgbClr val="F8FAFC"/>
                          </a:solidFill>
                          <a:latin typeface="Segoe UI"/>
                        </a:defRPr>
                      </a:pPr>
                      <a:r>
                        <a:t>0.845 / 0.838</a:t>
                      </a:r>
                    </a:p>
                  </a:txBody>
                  <a:tcPr>
                    <a:solidFill>
                      <a:srgbClr val="0F2043"/>
                    </a:solidFill>
                  </a:tcPr>
                </a:tc>
              </a:tr>
              <a:tr h="587828">
                <a:tc>
                  <a:txBody>
                    <a:bodyPr/>
                    <a:lstStyle/>
                    <a:p>
                      <a:pPr algn="ctr">
                        <a:defRPr sz="1200">
                          <a:solidFill>
                            <a:srgbClr val="94A3B8"/>
                          </a:solidFill>
                          <a:latin typeface="Segoe UI"/>
                        </a:defRPr>
                      </a:pPr>
                      <a:r>
                        <a:t>Usage Classification</a:t>
                      </a:r>
                    </a:p>
                  </a:txBody>
                  <a:tcPr>
                    <a:solidFill>
                      <a:srgbClr val="1E293B"/>
                    </a:solidFill>
                  </a:tcPr>
                </a:tc>
                <a:tc>
                  <a:txBody>
                    <a:bodyPr/>
                    <a:lstStyle/>
                    <a:p>
                      <a:pPr algn="ctr">
                        <a:defRPr sz="1200">
                          <a:solidFill>
                            <a:srgbClr val="94A3B8"/>
                          </a:solidFill>
                          <a:latin typeface="Segoe UI"/>
                        </a:defRPr>
                      </a:pPr>
                      <a:r>
                        <a:t>Gradient Boosting Classifier</a:t>
                      </a:r>
                    </a:p>
                  </a:txBody>
                  <a:tcPr>
                    <a:solidFill>
                      <a:srgbClr val="1E293B"/>
                    </a:solidFill>
                  </a:tcPr>
                </a:tc>
                <a:tc>
                  <a:txBody>
                    <a:bodyPr/>
                    <a:lstStyle/>
                    <a:p>
                      <a:pPr algn="ctr">
                        <a:defRPr sz="1200">
                          <a:solidFill>
                            <a:srgbClr val="94A3B8"/>
                          </a:solidFill>
                          <a:latin typeface="Segoe UI"/>
                        </a:defRPr>
                      </a:pPr>
                      <a:r>
                        <a:t>Accuracy / F1</a:t>
                      </a:r>
                    </a:p>
                  </a:txBody>
                  <a:tcPr>
                    <a:solidFill>
                      <a:srgbClr val="1E293B"/>
                    </a:solidFill>
                  </a:tcPr>
                </a:tc>
                <a:tc>
                  <a:txBody>
                    <a:bodyPr/>
                    <a:lstStyle/>
                    <a:p>
                      <a:pPr algn="ctr">
                        <a:defRPr sz="1200">
                          <a:solidFill>
                            <a:srgbClr val="94A3B8"/>
                          </a:solidFill>
                          <a:latin typeface="Segoe UI"/>
                        </a:defRPr>
                      </a:pPr>
                      <a:r>
                        <a:t>0.882 / 0.874</a:t>
                      </a:r>
                    </a:p>
                  </a:txBody>
                  <a:tcPr>
                    <a:solidFill>
                      <a:srgbClr val="1E293B"/>
                    </a:solidFill>
                  </a:tcPr>
                </a:tc>
                <a:tc>
                  <a:txBody>
                    <a:bodyPr/>
                    <a:lstStyle/>
                    <a:p>
                      <a:pPr algn="ctr">
                        <a:defRPr sz="1200">
                          <a:solidFill>
                            <a:srgbClr val="94A3B8"/>
                          </a:solidFill>
                          <a:latin typeface="Segoe UI"/>
                        </a:defRPr>
                      </a:pPr>
                      <a:r>
                        <a:t>0.820 / 0.812</a:t>
                      </a:r>
                    </a:p>
                  </a:txBody>
                  <a:tcPr>
                    <a:solidFill>
                      <a:srgbClr val="1E293B"/>
                    </a:solidFill>
                  </a:tcPr>
                </a:tc>
              </a:tr>
              <a:tr h="587828">
                <a:tc>
                  <a:txBody>
                    <a:bodyPr/>
                    <a:lstStyle/>
                    <a:p>
                      <a:pPr algn="ctr">
                        <a:defRPr sz="1200" b="1">
                          <a:solidFill>
                            <a:srgbClr val="34D399"/>
                          </a:solidFill>
                          <a:latin typeface="Segoe UI"/>
                        </a:defRPr>
                      </a:pPr>
                      <a:r>
                        <a:t>Anomaly Detection (Active)</a:t>
                      </a:r>
                    </a:p>
                  </a:txBody>
                  <a:tcPr>
                    <a:solidFill>
                      <a:srgbClr val="0F2043"/>
                    </a:solidFill>
                  </a:tcPr>
                </a:tc>
                <a:tc>
                  <a:txBody>
                    <a:bodyPr/>
                    <a:lstStyle/>
                    <a:p>
                      <a:pPr algn="ctr">
                        <a:defRPr sz="1200" b="1">
                          <a:solidFill>
                            <a:srgbClr val="F8FAFC"/>
                          </a:solidFill>
                          <a:latin typeface="Segoe UI"/>
                        </a:defRPr>
                      </a:pPr>
                      <a:r>
                        <a:t>Isolation Forest</a:t>
                      </a:r>
                    </a:p>
                  </a:txBody>
                  <a:tcPr>
                    <a:solidFill>
                      <a:srgbClr val="0F2043"/>
                    </a:solidFill>
                  </a:tcPr>
                </a:tc>
                <a:tc>
                  <a:txBody>
                    <a:bodyPr/>
                    <a:lstStyle/>
                    <a:p>
                      <a:pPr algn="ctr">
                        <a:defRPr sz="1200" b="1">
                          <a:solidFill>
                            <a:srgbClr val="F8FAFC"/>
                          </a:solidFill>
                          <a:latin typeface="Segoe UI"/>
                        </a:defRPr>
                      </a:pPr>
                      <a:r>
                        <a:t>Precision / Recall / AUC</a:t>
                      </a:r>
                    </a:p>
                  </a:txBody>
                  <a:tcPr>
                    <a:solidFill>
                      <a:srgbClr val="0F2043"/>
                    </a:solidFill>
                  </a:tcPr>
                </a:tc>
                <a:tc>
                  <a:txBody>
                    <a:bodyPr/>
                    <a:lstStyle/>
                    <a:p>
                      <a:pPr algn="ctr">
                        <a:defRPr sz="1200" b="1">
                          <a:solidFill>
                            <a:srgbClr val="F8FAFC"/>
                          </a:solidFill>
                          <a:latin typeface="Segoe UI"/>
                        </a:defRPr>
                      </a:pPr>
                      <a:r>
                        <a:t>0.865 / 0.882 / 0.921</a:t>
                      </a:r>
                    </a:p>
                  </a:txBody>
                  <a:tcPr>
                    <a:solidFill>
                      <a:srgbClr val="0F2043"/>
                    </a:solidFill>
                  </a:tcPr>
                </a:tc>
                <a:tc>
                  <a:txBody>
                    <a:bodyPr/>
                    <a:lstStyle/>
                    <a:p>
                      <a:pPr algn="ctr">
                        <a:defRPr sz="1200" b="1">
                          <a:solidFill>
                            <a:srgbClr val="F8FAFC"/>
                          </a:solidFill>
                          <a:latin typeface="Segoe UI"/>
                        </a:defRPr>
                      </a:pPr>
                      <a:r>
                        <a:t>0.871 / 0.890 / 0.932</a:t>
                      </a:r>
                    </a:p>
                  </a:txBody>
                  <a:tcPr>
                    <a:solidFill>
                      <a:srgbClr val="0F2043"/>
                    </a:solidFill>
                  </a:tcPr>
                </a:tc>
              </a:tr>
              <a:tr h="587832">
                <a:tc>
                  <a:txBody>
                    <a:bodyPr/>
                    <a:lstStyle/>
                    <a:p>
                      <a:pPr algn="ctr">
                        <a:defRPr sz="1200">
                          <a:solidFill>
                            <a:srgbClr val="94A3B8"/>
                          </a:solidFill>
                          <a:latin typeface="Segoe UI"/>
                        </a:defRPr>
                      </a:pPr>
                      <a:r>
                        <a:t>Anomaly Detection</a:t>
                      </a:r>
                    </a:p>
                  </a:txBody>
                  <a:tcPr>
                    <a:solidFill>
                      <a:srgbClr val="1E293B"/>
                    </a:solidFill>
                  </a:tcPr>
                </a:tc>
                <a:tc>
                  <a:txBody>
                    <a:bodyPr/>
                    <a:lstStyle/>
                    <a:p>
                      <a:pPr algn="ctr">
                        <a:defRPr sz="1200">
                          <a:solidFill>
                            <a:srgbClr val="94A3B8"/>
                          </a:solidFill>
                          <a:latin typeface="Segoe UI"/>
                        </a:defRPr>
                      </a:pPr>
                      <a:r>
                        <a:t>One-Class SVM</a:t>
                      </a:r>
                    </a:p>
                  </a:txBody>
                  <a:tcPr>
                    <a:solidFill>
                      <a:srgbClr val="1E293B"/>
                    </a:solidFill>
                  </a:tcPr>
                </a:tc>
                <a:tc>
                  <a:txBody>
                    <a:bodyPr/>
                    <a:lstStyle/>
                    <a:p>
                      <a:pPr algn="ctr">
                        <a:defRPr sz="1200">
                          <a:solidFill>
                            <a:srgbClr val="94A3B8"/>
                          </a:solidFill>
                          <a:latin typeface="Segoe UI"/>
                        </a:defRPr>
                      </a:pPr>
                      <a:r>
                        <a:t>Precision / Recall / AUC</a:t>
                      </a:r>
                    </a:p>
                  </a:txBody>
                  <a:tcPr>
                    <a:solidFill>
                      <a:srgbClr val="1E293B"/>
                    </a:solidFill>
                  </a:tcPr>
                </a:tc>
                <a:tc>
                  <a:txBody>
                    <a:bodyPr/>
                    <a:lstStyle/>
                    <a:p>
                      <a:pPr algn="ctr">
                        <a:defRPr sz="1200">
                          <a:solidFill>
                            <a:srgbClr val="94A3B8"/>
                          </a:solidFill>
                          <a:latin typeface="Segoe UI"/>
                        </a:defRPr>
                      </a:pPr>
                      <a:r>
                        <a:t>0.781 / 0.795 / 0.852</a:t>
                      </a:r>
                    </a:p>
                  </a:txBody>
                  <a:tcPr>
                    <a:solidFill>
                      <a:srgbClr val="1E293B"/>
                    </a:solidFill>
                  </a:tcPr>
                </a:tc>
                <a:tc>
                  <a:txBody>
                    <a:bodyPr/>
                    <a:lstStyle/>
                    <a:p>
                      <a:pPr algn="ctr">
                        <a:defRPr sz="1200">
                          <a:solidFill>
                            <a:srgbClr val="94A3B8"/>
                          </a:solidFill>
                          <a:latin typeface="Segoe UI"/>
                        </a:defRPr>
                      </a:pPr>
                      <a:r>
                        <a:t>0.792 / 0.805 / 0.864</a:t>
                      </a:r>
                    </a:p>
                  </a:txBody>
                  <a:tcPr>
                    <a:solidFill>
                      <a:srgbClr val="1E293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6095390" cy="9144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91440"/>
          </a:xfrm>
          <a:prstGeom prst="rect">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731520"/>
          </a:xfrm>
          <a:prstGeom prst="rect">
            <a:avLst/>
          </a:prstGeom>
          <a:noFill/>
        </p:spPr>
        <p:txBody>
          <a:bodyPr wrap="square" tIns="0" bIns="0" lIns="0" rIns="0">
            <a:spAutoFit/>
          </a:bodyPr>
          <a:lstStyle/>
          <a:p>
            <a:pPr>
              <a:defRPr sz="3600" b="1">
                <a:solidFill>
                  <a:srgbClr val="38BDF8"/>
                </a:solidFill>
                <a:latin typeface="Segoe UI"/>
              </a:defRPr>
            </a:pPr>
            <a:r>
              <a:t>6. Model Evaluation: Confusion Matrices &amp; ROC Curves</a:t>
            </a:r>
          </a:p>
        </p:txBody>
      </p:sp>
      <p:pic>
        <p:nvPicPr>
          <p:cNvPr id="5" name="Picture 4" descr="confusion_matrices.png"/>
          <p:cNvPicPr>
            <a:picLocks noChangeAspect="1"/>
          </p:cNvPicPr>
          <p:nvPr/>
        </p:nvPicPr>
        <p:blipFill>
          <a:blip r:embed="rId2"/>
          <a:stretch>
            <a:fillRect/>
          </a:stretch>
        </p:blipFill>
        <p:spPr>
          <a:xfrm>
            <a:off x="731520" y="1645920"/>
            <a:ext cx="5212080" cy="4114800"/>
          </a:xfrm>
          <a:prstGeom prst="rect">
            <a:avLst/>
          </a:prstGeom>
        </p:spPr>
      </p:pic>
      <p:pic>
        <p:nvPicPr>
          <p:cNvPr id="6" name="Picture 5" descr="roc_curves.png"/>
          <p:cNvPicPr>
            <a:picLocks noChangeAspect="1"/>
          </p:cNvPicPr>
          <p:nvPr/>
        </p:nvPicPr>
        <p:blipFill>
          <a:blip r:embed="rId3"/>
          <a:stretch>
            <a:fillRect/>
          </a:stretch>
        </p:blipFill>
        <p:spPr>
          <a:xfrm>
            <a:off x="6217920" y="1645920"/>
            <a:ext cx="5212080" cy="4114800"/>
          </a:xfrm>
          <a:prstGeom prst="rect">
            <a:avLst/>
          </a:prstGeom>
        </p:spPr>
      </p:pic>
      <p:sp>
        <p:nvSpPr>
          <p:cNvPr id="7" name="TextBox 6"/>
          <p:cNvSpPr txBox="1"/>
          <p:nvPr/>
        </p:nvSpPr>
        <p:spPr>
          <a:xfrm>
            <a:off x="731520" y="5852160"/>
            <a:ext cx="10698480" cy="548640"/>
          </a:xfrm>
          <a:prstGeom prst="rect">
            <a:avLst/>
          </a:prstGeom>
          <a:noFill/>
        </p:spPr>
        <p:txBody>
          <a:bodyPr wrap="none">
            <a:spAutoFit/>
          </a:bodyPr>
          <a:lstStyle/>
          <a:p>
            <a:pPr>
              <a:defRPr sz="1100">
                <a:solidFill>
                  <a:srgbClr val="94A3B8"/>
                </a:solidFill>
                <a:latin typeface="Segoe UI"/>
              </a:defRPr>
            </a:pPr>
            <a:r>
              <a:t>Left: Heatmap confusion matrices showing classification and anomaly detection predictions. Right: One-vs-Rest classification ROC and Isolation Forest vs SVM ROC curve comparison.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6095390" cy="9144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91440"/>
          </a:xfrm>
          <a:prstGeom prst="rect">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731520"/>
          </a:xfrm>
          <a:prstGeom prst="rect">
            <a:avLst/>
          </a:prstGeom>
          <a:noFill/>
        </p:spPr>
        <p:txBody>
          <a:bodyPr wrap="square" tIns="0" bIns="0" lIns="0" rIns="0">
            <a:spAutoFit/>
          </a:bodyPr>
          <a:lstStyle/>
          <a:p>
            <a:pPr>
              <a:defRPr sz="3600" b="1">
                <a:solidFill>
                  <a:srgbClr val="38BDF8"/>
                </a:solidFill>
                <a:latin typeface="Segoe UI"/>
              </a:defRPr>
            </a:pPr>
            <a:r>
              <a:t>7. Optimization Performance &amp; Savings Chart</a:t>
            </a:r>
          </a:p>
        </p:txBody>
      </p:sp>
      <p:pic>
        <p:nvPicPr>
          <p:cNvPr id="5" name="Picture 4" descr="savings_chart.png"/>
          <p:cNvPicPr>
            <a:picLocks noChangeAspect="1"/>
          </p:cNvPicPr>
          <p:nvPr/>
        </p:nvPicPr>
        <p:blipFill>
          <a:blip r:embed="rId2"/>
          <a:stretch>
            <a:fillRect/>
          </a:stretch>
        </p:blipFill>
        <p:spPr>
          <a:xfrm>
            <a:off x="731520" y="1645920"/>
            <a:ext cx="5486400" cy="4114800"/>
          </a:xfrm>
          <a:prstGeom prst="rect">
            <a:avLst/>
          </a:prstGeom>
        </p:spPr>
      </p:pic>
      <p:sp>
        <p:nvSpPr>
          <p:cNvPr id="6" name="Rounded Rectangle 5"/>
          <p:cNvSpPr/>
          <p:nvPr/>
        </p:nvSpPr>
        <p:spPr>
          <a:xfrm>
            <a:off x="6583680" y="1645920"/>
            <a:ext cx="4846320" cy="4114800"/>
          </a:xfrm>
          <a:prstGeom prst="roundRect">
            <a:avLst/>
          </a:prstGeom>
          <a:solidFill>
            <a:srgbClr val="1E293B"/>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spcAft>
                <a:spcPts val="1500"/>
              </a:spcAft>
              <a:defRPr sz="2000" b="1">
                <a:solidFill>
                  <a:srgbClr val="34D399"/>
                </a:solidFill>
                <a:latin typeface="Segoe UI"/>
              </a:defRPr>
            </a:pPr>
            <a:r>
              <a:t>Smart Load Shifting Economics</a:t>
            </a:r>
          </a:p>
          <a:p>
            <a:pPr>
              <a:spcAft>
                <a:spcPts val="200"/>
              </a:spcAft>
              <a:defRPr sz="1300" b="1">
                <a:solidFill>
                  <a:srgbClr val="38BDF8"/>
                </a:solidFill>
                <a:latin typeface="Segoe UI"/>
              </a:defRPr>
            </a:pPr>
            <a:r>
              <a:t>•  Weekly Cost Reduction: </a:t>
            </a:r>
          </a:p>
          <a:p>
            <a:pPr>
              <a:spcAft>
                <a:spcPts val="800"/>
              </a:spcAft>
              <a:defRPr sz="1200">
                <a:solidFill>
                  <a:srgbClr val="F8FAFC"/>
                </a:solidFill>
                <a:latin typeface="Segoe UI"/>
              </a:defRPr>
            </a:pPr>
            <a:r>
              <a:t>Weekly household cost slashed by 52.4% (from ₹533.40 to ₹254.00), saving ₹279.40 per week.</a:t>
            </a:r>
          </a:p>
          <a:p>
            <a:pPr>
              <a:spcAft>
                <a:spcPts val="200"/>
              </a:spcAft>
              <a:defRPr sz="1300" b="1">
                <a:solidFill>
                  <a:srgbClr val="38BDF8"/>
                </a:solidFill>
                <a:latin typeface="Segoe UI"/>
              </a:defRPr>
            </a:pPr>
            <a:r>
              <a:t>•  Monthly Cost Reduction: </a:t>
            </a:r>
          </a:p>
          <a:p>
            <a:pPr>
              <a:spcAft>
                <a:spcPts val="800"/>
              </a:spcAft>
              <a:defRPr sz="1200">
                <a:solidFill>
                  <a:srgbClr val="F8FAFC"/>
                </a:solidFill>
                <a:latin typeface="Segoe UI"/>
              </a:defRPr>
            </a:pPr>
            <a:r>
              <a:t>Accumulated monthly monetary savings of ₹1,213.99, dramatically lowering electric bills.</a:t>
            </a:r>
          </a:p>
          <a:p>
            <a:pPr>
              <a:spcAft>
                <a:spcPts val="200"/>
              </a:spcAft>
              <a:defRPr sz="1300" b="1">
                <a:solidFill>
                  <a:srgbClr val="38BDF8"/>
                </a:solidFill>
                <a:latin typeface="Segoe UI"/>
              </a:defRPr>
            </a:pPr>
            <a:r>
              <a:t>•  Carbon Emission Offset: </a:t>
            </a:r>
          </a:p>
          <a:p>
            <a:pPr>
              <a:spcAft>
                <a:spcPts val="800"/>
              </a:spcAft>
              <a:defRPr sz="1200">
                <a:solidFill>
                  <a:srgbClr val="F8FAFC"/>
                </a:solidFill>
                <a:latin typeface="Segoe UI"/>
              </a:defRPr>
            </a:pPr>
            <a:r>
              <a:t>Cuts carbon intensity by shifting loads (saves 10.41 kg CO2/week or over 45 kg CO2/month, equivalent to planting 25 trees/year).</a:t>
            </a:r>
          </a:p>
          <a:p>
            <a:pPr>
              <a:spcAft>
                <a:spcPts val="200"/>
              </a:spcAft>
              <a:defRPr sz="1300" b="1">
                <a:solidFill>
                  <a:srgbClr val="38BDF8"/>
                </a:solidFill>
                <a:latin typeface="Segoe UI"/>
              </a:defRPr>
            </a:pPr>
            <a:r>
              <a:t>•  Appliance Shifting Logic: </a:t>
            </a:r>
          </a:p>
          <a:p>
            <a:pPr>
              <a:spcAft>
                <a:spcPts val="800"/>
              </a:spcAft>
              <a:defRPr sz="1200">
                <a:solidFill>
                  <a:srgbClr val="F8FAFC"/>
                </a:solidFill>
                <a:latin typeface="Segoe UI"/>
              </a:defRPr>
            </a:pPr>
            <a:r>
              <a:t>Greedy heuristic scheduler shifts Washing Machine, Dishwasher, EV Charger, and Water Heater off peak windows (18:00 - 22:00) into off-peak windows.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6095390" cy="91440"/>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390" y="0"/>
            <a:ext cx="6096304" cy="91440"/>
          </a:xfrm>
          <a:prstGeom prst="rect">
            <a:avLst/>
          </a:prstGeom>
          <a:solidFill>
            <a:srgbClr val="A78BFA"/>
          </a:solidFill>
          <a:ln>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731520"/>
          </a:xfrm>
          <a:prstGeom prst="rect">
            <a:avLst/>
          </a:prstGeom>
          <a:noFill/>
        </p:spPr>
        <p:txBody>
          <a:bodyPr wrap="square" tIns="0" bIns="0" lIns="0" rIns="0">
            <a:spAutoFit/>
          </a:bodyPr>
          <a:lstStyle/>
          <a:p>
            <a:pPr>
              <a:defRPr sz="3600" b="1">
                <a:solidFill>
                  <a:srgbClr val="38BDF8"/>
                </a:solidFill>
                <a:latin typeface="Segoe UI"/>
              </a:defRPr>
            </a:pPr>
            <a:r>
              <a:t>8. Future Implementation &amp; Progress</a:t>
            </a:r>
          </a:p>
        </p:txBody>
      </p:sp>
      <p:sp>
        <p:nvSpPr>
          <p:cNvPr id="5" name="TextBox 4"/>
          <p:cNvSpPr txBox="1"/>
          <p:nvPr/>
        </p:nvSpPr>
        <p:spPr>
          <a:xfrm>
            <a:off x="731520" y="1645920"/>
            <a:ext cx="10698480" cy="4114800"/>
          </a:xfrm>
          <a:prstGeom prst="rect">
            <a:avLst/>
          </a:prstGeom>
          <a:noFill/>
        </p:spPr>
        <p:txBody>
          <a:bodyPr wrap="square">
            <a:spAutoFit/>
          </a:bodyPr>
          <a:lstStyle/>
          <a:p>
            <a:pPr>
              <a:spcAft>
                <a:spcPts val="200"/>
              </a:spcAft>
              <a:defRPr sz="1600" b="1">
                <a:solidFill>
                  <a:srgbClr val="38BDF8"/>
                </a:solidFill>
                <a:latin typeface="Segoe UI"/>
              </a:defRPr>
            </a:pPr>
            <a:r>
              <a:t>1. Mixed-Integer Linear Programming (MILP) Optimizer</a:t>
            </a:r>
          </a:p>
          <a:p>
            <a:pPr>
              <a:spcAft>
                <a:spcPts val="1200"/>
              </a:spcAft>
              <a:defRPr sz="1300">
                <a:solidFill>
                  <a:srgbClr val="F8FAFC"/>
                </a:solidFill>
                <a:latin typeface="Segoe UI"/>
              </a:defRPr>
            </a:pPr>
            <a:r>
              <a:t>Upgrade from current greedy heuristic scheduling to mathematical solver-based MILP logic. This will support multi-constraint parameters, such as localized battery storage degradation, solar photovoltaic (PV) yield curves, and dynamic grid time-of-use tariffs.</a:t>
            </a:r>
          </a:p>
          <a:p>
            <a:pPr>
              <a:spcAft>
                <a:spcPts val="200"/>
              </a:spcAft>
              <a:defRPr sz="1600" b="1">
                <a:solidFill>
                  <a:srgbClr val="38BDF8"/>
                </a:solidFill>
                <a:latin typeface="Segoe UI"/>
              </a:defRPr>
            </a:pPr>
            <a:r>
              <a:t>2. IoT Smart Plug Connectors &amp; Physical Control</a:t>
            </a:r>
          </a:p>
          <a:p>
            <a:pPr>
              <a:spcAft>
                <a:spcPts val="1200"/>
              </a:spcAft>
              <a:defRPr sz="1300">
                <a:solidFill>
                  <a:srgbClr val="F8FAFC"/>
                </a:solidFill>
                <a:latin typeface="Segoe UI"/>
              </a:defRPr>
            </a:pPr>
            <a:r>
              <a:t>Develop integrations with physical smart plugs (e.g. Tuya, Shelly API) using webhook endpoints. This will enable the FastAPI backend optimizer to physically toggle home appliances on and off based on computed schedules, turning predictions into physical controls.</a:t>
            </a:r>
          </a:p>
          <a:p>
            <a:pPr>
              <a:spcAft>
                <a:spcPts val="200"/>
              </a:spcAft>
              <a:defRPr sz="1600" b="1">
                <a:solidFill>
                  <a:srgbClr val="38BDF8"/>
                </a:solidFill>
                <a:latin typeface="Segoe UI"/>
              </a:defRPr>
            </a:pPr>
            <a:r>
              <a:t>3. Localized Home Energy Storage Systems (HESS)</a:t>
            </a:r>
          </a:p>
          <a:p>
            <a:pPr>
              <a:spcAft>
                <a:spcPts val="1200"/>
              </a:spcAft>
              <a:defRPr sz="1300">
                <a:solidFill>
                  <a:srgbClr val="F8FAFC"/>
                </a:solidFill>
                <a:latin typeface="Segoe UI"/>
              </a:defRPr>
            </a:pPr>
            <a:r>
              <a:t>Integrate battery bank management models. Calculate the cost-optimal and carbon-optimal charging of the home battery using off-peak grid power or excess solar production, and load discharging during expensive peak periods.</a:t>
            </a:r>
          </a:p>
          <a:p>
            <a:pPr>
              <a:spcAft>
                <a:spcPts val="200"/>
              </a:spcAft>
              <a:defRPr sz="1600" b="1">
                <a:solidFill>
                  <a:srgbClr val="38BDF8"/>
                </a:solidFill>
                <a:latin typeface="Segoe UI"/>
              </a:defRPr>
            </a:pPr>
            <a:r>
              <a:t>4. Mobile App Dashboard &amp; Push Notifications</a:t>
            </a:r>
          </a:p>
          <a:p>
            <a:pPr>
              <a:spcAft>
                <a:spcPts val="1200"/>
              </a:spcAft>
              <a:defRPr sz="1300">
                <a:solidFill>
                  <a:srgbClr val="F8FAFC"/>
                </a:solidFill>
                <a:latin typeface="Segoe UI"/>
              </a:defRPr>
            </a:pPr>
            <a:r>
              <a:t>Build a responsive Flutter-based mobile dashboard featuring the glassmorphism theme. Add active WebSocket notifications to alert users immediately on their mobile devices when the anomaly detection engine identifies unexpected spikes or potential leaks.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